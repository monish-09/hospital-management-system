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9" r:id="rId2"/>
    <p:sldId id="260" r:id="rId3"/>
    <p:sldId id="256" r:id="rId4"/>
    <p:sldId id="262" r:id="rId5"/>
    <p:sldId id="263" r:id="rId6"/>
    <p:sldId id="257" r:id="rId7"/>
    <p:sldId id="264" r:id="rId8"/>
    <p:sldId id="258" r:id="rId9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B8AD6-921C-4512-A8AF-C0C9D8D28BE3}" v="46" dt="2025-11-27T16:47:57.745"/>
    <p1510:client id="{2A6E4542-C9EC-49FF-A25F-F436F15CF4E3}" v="1" dt="2025-11-27T16:52:30.9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DA686-C75A-470A-A33B-D0E639AD1F8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801688"/>
            <a:ext cx="283527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80000"/>
            <a:ext cx="6045200" cy="4811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EE755-EED0-4426-8B8F-EA83960FF57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84300"/>
            <a:ext cx="75565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Book Antiqua" pitchFamily="18" charset="0"/>
              </a:rPr>
              <a:t>Project Proposal</a:t>
            </a:r>
          </a:p>
          <a:p>
            <a:pPr algn="ctr"/>
            <a:r>
              <a:rPr lang="en-US" sz="3200" b="1" dirty="0">
                <a:latin typeface="Book Antiqua" pitchFamily="18" charset="0"/>
              </a:rPr>
              <a:t>On</a:t>
            </a:r>
          </a:p>
          <a:p>
            <a:pPr algn="ctr"/>
            <a:r>
              <a:rPr lang="en-US" sz="3200" b="1" dirty="0">
                <a:latin typeface="Book Antiqua" pitchFamily="18" charset="0"/>
              </a:rPr>
              <a:t>Hospital Management</a:t>
            </a:r>
          </a:p>
          <a:p>
            <a:pPr algn="ctr"/>
            <a:r>
              <a:rPr lang="en-US" sz="3200" b="1" dirty="0">
                <a:latin typeface="Book Antiqua" pitchFamily="18" charset="0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650" y="6565900"/>
            <a:ext cx="21611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Book Antiqua" pitchFamily="18" charset="0"/>
              </a:rPr>
              <a:t>Guided By:-</a:t>
            </a:r>
          </a:p>
          <a:p>
            <a:r>
              <a:rPr lang="en-US" sz="2200" b="1" dirty="0">
                <a:latin typeface="Book Antiqua" pitchFamily="18" charset="0"/>
              </a:rPr>
              <a:t>     </a:t>
            </a:r>
            <a:r>
              <a:rPr lang="en-US" sz="2200" b="1" dirty="0" err="1">
                <a:latin typeface="Book Antiqua" pitchFamily="18" charset="0"/>
              </a:rPr>
              <a:t>Anuj</a:t>
            </a:r>
            <a:r>
              <a:rPr lang="en-US" sz="2200" b="1" dirty="0">
                <a:latin typeface="Book Antiqua" pitchFamily="18" charset="0"/>
              </a:rPr>
              <a:t>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1650" y="6489700"/>
            <a:ext cx="2855099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ook Antiqua" pitchFamily="18" charset="0"/>
              </a:rPr>
              <a:t>Created By:-</a:t>
            </a:r>
          </a:p>
          <a:p>
            <a:r>
              <a:rPr lang="en-US" sz="2400" b="1" dirty="0">
                <a:latin typeface="Book Antiqua" pitchFamily="18" charset="0"/>
              </a:rPr>
              <a:t> </a:t>
            </a:r>
            <a:r>
              <a:rPr lang="en-US" sz="2000" b="1" dirty="0">
                <a:latin typeface="Book Antiqua" pitchFamily="18" charset="0"/>
              </a:rPr>
              <a:t>Name:</a:t>
            </a:r>
            <a:r>
              <a:rPr lang="en-US" sz="2400" b="1" dirty="0">
                <a:latin typeface="Book Antiqua" pitchFamily="18" charset="0"/>
              </a:rPr>
              <a:t> </a:t>
            </a:r>
            <a:r>
              <a:rPr lang="en-US" sz="2000" b="1" dirty="0">
                <a:latin typeface="Book Antiqua" pitchFamily="18" charset="0"/>
              </a:rPr>
              <a:t>Monish,</a:t>
            </a:r>
          </a:p>
          <a:p>
            <a:r>
              <a:rPr lang="en-US" sz="2000" b="1" dirty="0">
                <a:latin typeface="Book Antiqua" pitchFamily="18" charset="0"/>
              </a:rPr>
              <a:t>        lucky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 </a:t>
            </a:r>
            <a:r>
              <a:rPr lang="en-US" sz="2000" b="1" dirty="0" err="1">
                <a:latin typeface="Book Antiqua" pitchFamily="18" charset="0"/>
              </a:rPr>
              <a:t>AFId</a:t>
            </a:r>
            <a:r>
              <a:rPr lang="en-US" sz="2000" b="1" dirty="0">
                <a:latin typeface="Book Antiqua" pitchFamily="18" charset="0"/>
              </a:rPr>
              <a:t> :AF04992124,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            AF04991795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          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Batch Code:ANPD2405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Course </a:t>
            </a:r>
            <a:r>
              <a:rPr lang="en-US" sz="2000" b="1" dirty="0" err="1">
                <a:latin typeface="Book Antiqua" pitchFamily="18" charset="0"/>
              </a:rPr>
              <a:t>Code:ITPR</a:t>
            </a:r>
            <a:endParaRPr lang="en-US" sz="2000" b="1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endParaRPr lang="en-US" sz="2200" b="1" dirty="0"/>
          </a:p>
          <a:p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349250" y="317500"/>
            <a:ext cx="6858000" cy="100584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3050" y="317500"/>
            <a:ext cx="6934200" cy="9982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025650" y="1384300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Book Antiqua" pitchFamily="18" charset="0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25650" y="1155700"/>
            <a:ext cx="3657600" cy="83820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20850" y="2755900"/>
            <a:ext cx="3198311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1.Title Of The Project…..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2.Introduction….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3.Objective….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4.Category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5.Analysis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</a:t>
            </a:r>
            <a:r>
              <a:rPr lang="en-US" dirty="0" err="1">
                <a:latin typeface="Book Antiqua" pitchFamily="18" charset="0"/>
              </a:rPr>
              <a:t>a.Modules</a:t>
            </a:r>
            <a:r>
              <a:rPr lang="en-US" dirty="0">
                <a:latin typeface="Book Antiqua" pitchFamily="18" charset="0"/>
              </a:rPr>
              <a:t> and Description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</a:t>
            </a:r>
            <a:r>
              <a:rPr lang="en-US" dirty="0" err="1">
                <a:latin typeface="Book Antiqua" pitchFamily="18" charset="0"/>
              </a:rPr>
              <a:t>b.Database</a:t>
            </a:r>
            <a:r>
              <a:rPr lang="en-US" dirty="0">
                <a:latin typeface="Book Antiqua" pitchFamily="18" charset="0"/>
              </a:rPr>
              <a:t> Design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c.ER Diagram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</a:t>
            </a:r>
            <a:r>
              <a:rPr lang="en-US" dirty="0" err="1">
                <a:latin typeface="Book Antiqua" pitchFamily="18" charset="0"/>
              </a:rPr>
              <a:t>d.Data</a:t>
            </a:r>
            <a:r>
              <a:rPr lang="en-US" dirty="0">
                <a:latin typeface="Book Antiqua" pitchFamily="18" charset="0"/>
              </a:rPr>
              <a:t> Flow Diagram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6.Complete Structure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</a:t>
            </a:r>
            <a:r>
              <a:rPr lang="en-US" dirty="0" err="1">
                <a:latin typeface="Book Antiqua" pitchFamily="18" charset="0"/>
              </a:rPr>
              <a:t>a.Process</a:t>
            </a:r>
            <a:r>
              <a:rPr lang="en-US" dirty="0">
                <a:latin typeface="Book Antiqua" pitchFamily="18" charset="0"/>
              </a:rPr>
              <a:t> Logical Diagram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7.Platform Used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</a:t>
            </a:r>
            <a:r>
              <a:rPr lang="en-US" dirty="0" err="1">
                <a:latin typeface="Book Antiqua" pitchFamily="18" charset="0"/>
              </a:rPr>
              <a:t>a.Hardware</a:t>
            </a:r>
            <a:r>
              <a:rPr lang="en-US" dirty="0">
                <a:latin typeface="Book Antiqua" pitchFamily="18" charset="0"/>
              </a:rPr>
              <a:t> Requirement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</a:t>
            </a:r>
            <a:r>
              <a:rPr lang="en-US" dirty="0" err="1">
                <a:latin typeface="Book Antiqua" pitchFamily="18" charset="0"/>
              </a:rPr>
              <a:t>b.Software</a:t>
            </a:r>
            <a:r>
              <a:rPr lang="en-US" dirty="0">
                <a:latin typeface="Book Antiqua" pitchFamily="18" charset="0"/>
              </a:rPr>
              <a:t> Requirement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8.Future Scope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9.Biblography</a:t>
            </a:r>
          </a:p>
          <a:p>
            <a:r>
              <a:rPr lang="en-US" dirty="0"/>
              <a:t>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2650" y="469900"/>
            <a:ext cx="5647690" cy="146719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33320" marR="5080" indent="-2292985">
              <a:lnSpc>
                <a:spcPct val="101899"/>
              </a:lnSpc>
              <a:spcBef>
                <a:spcPts val="55"/>
              </a:spcBef>
            </a:pPr>
            <a:r>
              <a:rPr sz="1800" b="1" dirty="0">
                <a:latin typeface="Book Antiqua" pitchFamily="18" charset="0"/>
                <a:cs typeface="Arial"/>
              </a:rPr>
              <a:t>Hospital</a:t>
            </a:r>
            <a:r>
              <a:rPr sz="1800" b="1" spc="-5" dirty="0">
                <a:latin typeface="Book Antiqua" pitchFamily="18" charset="0"/>
                <a:cs typeface="Arial"/>
              </a:rPr>
              <a:t> </a:t>
            </a:r>
            <a:r>
              <a:rPr sz="1800" b="1" dirty="0">
                <a:latin typeface="Book Antiqua" pitchFamily="18" charset="0"/>
                <a:cs typeface="Arial"/>
              </a:rPr>
              <a:t>Management System - Complete</a:t>
            </a:r>
            <a:r>
              <a:rPr sz="1800" b="1" spc="-5" dirty="0">
                <a:latin typeface="Book Antiqua" pitchFamily="18" charset="0"/>
                <a:cs typeface="Arial"/>
              </a:rPr>
              <a:t> </a:t>
            </a:r>
            <a:r>
              <a:rPr sz="1800" b="1" spc="-10" dirty="0">
                <a:latin typeface="Book Antiqua" pitchFamily="18" charset="0"/>
                <a:cs typeface="Arial"/>
              </a:rPr>
              <a:t>Project Report</a:t>
            </a:r>
            <a:endParaRPr sz="1800">
              <a:latin typeface="Book Antiqua" pitchFamily="18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Book Antiqua" pitchFamily="18" charset="0"/>
                <a:cs typeface="Arial"/>
              </a:rPr>
              <a:t>Title of the </a:t>
            </a:r>
            <a:r>
              <a:rPr sz="1400" b="1" spc="-10" dirty="0">
                <a:latin typeface="Book Antiqua" pitchFamily="18" charset="0"/>
                <a:cs typeface="Arial"/>
              </a:rPr>
              <a:t>Project</a:t>
            </a:r>
            <a:endParaRPr sz="140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Hospital Management </a:t>
            </a:r>
            <a:r>
              <a:rPr sz="1200" spc="-10" dirty="0">
                <a:latin typeface="Book Antiqua" pitchFamily="18" charset="0"/>
                <a:cs typeface="Arial MT"/>
              </a:rPr>
              <a:t>System</a:t>
            </a:r>
            <a:endParaRPr sz="1200">
              <a:latin typeface="Book Antiqua" pitchFamily="18" charset="0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7850" y="2374900"/>
            <a:ext cx="6324600" cy="7530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Book Antiqua" pitchFamily="18" charset="0"/>
                <a:cs typeface="Arial"/>
              </a:rPr>
              <a:t>Introduction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The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Hospital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Management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System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(HMS)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is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computerized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system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designed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to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simplify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spc="-25" dirty="0">
                <a:latin typeface="Book Antiqua" pitchFamily="18" charset="0"/>
                <a:cs typeface="Arial MT"/>
              </a:rPr>
              <a:t>and </a:t>
            </a:r>
            <a:r>
              <a:rPr sz="1200" dirty="0">
                <a:latin typeface="Book Antiqua" pitchFamily="18" charset="0"/>
                <a:cs typeface="Arial MT"/>
              </a:rPr>
              <a:t>digitalize the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internal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processes of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hospital.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It manages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essential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data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such as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patients,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doctors, </a:t>
            </a:r>
            <a:r>
              <a:rPr sz="1200" dirty="0">
                <a:latin typeface="Book Antiqua" pitchFamily="18" charset="0"/>
                <a:cs typeface="Arial MT"/>
              </a:rPr>
              <a:t>staff, medicines,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appointments. Manual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hospital operations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involve large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volumes of </a:t>
            </a:r>
            <a:r>
              <a:rPr sz="1200" spc="-10" dirty="0">
                <a:latin typeface="Book Antiqua" pitchFamily="18" charset="0"/>
                <a:cs typeface="Arial MT"/>
              </a:rPr>
              <a:t>paperwork </a:t>
            </a:r>
            <a:r>
              <a:rPr sz="1200" dirty="0">
                <a:latin typeface="Book Antiqua" pitchFamily="18" charset="0"/>
                <a:cs typeface="Arial MT"/>
              </a:rPr>
              <a:t>which often lead to errors and delays. HMS eliminates these issues by providing a centralized </a:t>
            </a:r>
            <a:r>
              <a:rPr sz="1200" spc="-25" dirty="0">
                <a:latin typeface="Book Antiqua" pitchFamily="18" charset="0"/>
                <a:cs typeface="Arial MT"/>
              </a:rPr>
              <a:t>and </a:t>
            </a:r>
            <a:r>
              <a:rPr sz="1200" dirty="0">
                <a:latin typeface="Book Antiqua" pitchFamily="18" charset="0"/>
                <a:cs typeface="Arial MT"/>
              </a:rPr>
              <a:t>efficient database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system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that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improves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data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accuracy,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reduces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time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consumption,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enhances </a:t>
            </a:r>
            <a:r>
              <a:rPr sz="1200" dirty="0">
                <a:latin typeface="Book Antiqua" pitchFamily="18" charset="0"/>
                <a:cs typeface="Arial MT"/>
              </a:rPr>
              <a:t>patient service </a:t>
            </a:r>
            <a:r>
              <a:rPr sz="1200" spc="-10" dirty="0">
                <a:latin typeface="Book Antiqua" pitchFamily="18" charset="0"/>
                <a:cs typeface="Arial MT"/>
              </a:rPr>
              <a:t>quality.</a:t>
            </a: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</a:pP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Book Antiqua" pitchFamily="18" charset="0"/>
                <a:cs typeface="Arial"/>
              </a:rPr>
              <a:t>Objective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The main objectives of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this project </a:t>
            </a:r>
            <a:r>
              <a:rPr sz="1200" spc="-20" dirty="0">
                <a:latin typeface="Book Antiqua" pitchFamily="18" charset="0"/>
                <a:cs typeface="Arial MT"/>
              </a:rPr>
              <a:t>are: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maintain accurate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 records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 medical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information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handle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doctor details,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specializations,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availability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manage staff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roles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their activities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efficiently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automate appointment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scheduling between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patients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doctors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track medicine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inventory, stock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levels, and expiry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dates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ensure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quick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data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retrieval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generate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useful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reports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reduce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manual workload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 human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errors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streamline hospital operations through a user-friendly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system</a:t>
            </a: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</a:pP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Project </a:t>
            </a:r>
            <a:r>
              <a:rPr sz="1200" b="1" spc="-10" dirty="0">
                <a:latin typeface="Book Antiqua" pitchFamily="18" charset="0"/>
                <a:cs typeface="Arial"/>
              </a:rPr>
              <a:t>Category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Database</a:t>
            </a:r>
            <a:r>
              <a:rPr sz="1200" spc="-10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Management</a:t>
            </a:r>
            <a:r>
              <a:rPr sz="1200" spc="-10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System</a:t>
            </a:r>
            <a:r>
              <a:rPr sz="1200" spc="-10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(DBMS)</a:t>
            </a:r>
            <a:r>
              <a:rPr sz="1200" spc="-10" dirty="0">
                <a:latin typeface="Book Antiqua" pitchFamily="18" charset="0"/>
                <a:cs typeface="Arial MT"/>
              </a:rPr>
              <a:t> Application</a:t>
            </a: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</a:pP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Analysis - Modules and </a:t>
            </a:r>
            <a:r>
              <a:rPr sz="1200" b="1" spc="-10" dirty="0">
                <a:latin typeface="Book Antiqua" pitchFamily="18" charset="0"/>
                <a:cs typeface="Arial"/>
              </a:rPr>
              <a:t>Description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 marR="251460" indent="14033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Patient Module – Manages patient information such as personal details, medical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history, </a:t>
            </a:r>
            <a:r>
              <a:rPr sz="1200" spc="-25" dirty="0">
                <a:latin typeface="Book Antiqua" pitchFamily="18" charset="0"/>
                <a:cs typeface="Arial MT"/>
              </a:rPr>
              <a:t>and </a:t>
            </a:r>
            <a:r>
              <a:rPr sz="1200" dirty="0">
                <a:latin typeface="Book Antiqua" pitchFamily="18" charset="0"/>
                <a:cs typeface="Arial MT"/>
              </a:rPr>
              <a:t>treatment </a:t>
            </a:r>
            <a:r>
              <a:rPr sz="1200" spc="-10" dirty="0">
                <a:latin typeface="Book Antiqua" pitchFamily="18" charset="0"/>
                <a:cs typeface="Arial MT"/>
              </a:rPr>
              <a:t>details.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53035" indent="-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Doctor Module 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Stores doctor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details including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specialization, experience,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availability.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53035" indent="-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Staff Module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Maintains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information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about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nurses,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technicians,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administrative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staff.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53035" indent="-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Medicine Module 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Tracks medicine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stock, expiry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dates, suppliers,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usage.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2700" marR="484505" indent="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Appointment Module 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Manages appointments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between patients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 doctors with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status updates.</a:t>
            </a: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/>
            </a:pP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AutoNum type="arabicPeriod"/>
            </a:pPr>
            <a:endParaRPr sz="1200" dirty="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Database </a:t>
            </a:r>
            <a:r>
              <a:rPr sz="1200" b="1" spc="-10" dirty="0">
                <a:latin typeface="Book Antiqua" pitchFamily="18" charset="0"/>
                <a:cs typeface="Arial"/>
              </a:rPr>
              <a:t>Design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Database </a:t>
            </a:r>
            <a:r>
              <a:rPr sz="1200" spc="-10" dirty="0">
                <a:latin typeface="Book Antiqua" pitchFamily="18" charset="0"/>
                <a:cs typeface="Arial MT"/>
              </a:rPr>
              <a:t>Tables: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2700" lvl="1">
              <a:lnSpc>
                <a:spcPct val="100000"/>
              </a:lnSpc>
              <a:tabLst>
                <a:tab pos="92075" algn="l"/>
              </a:tabLst>
            </a:pPr>
            <a:endParaRPr sz="1200" dirty="0">
              <a:latin typeface="Book Antiqua" pitchFamily="18" charset="0"/>
              <a:cs typeface="Arial M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9250" y="317500"/>
            <a:ext cx="6858000" cy="9982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506E5F-F7A4-C95F-1E8A-D75488D17A6F}"/>
              </a:ext>
            </a:extLst>
          </p:cNvPr>
          <p:cNvSpPr/>
          <p:nvPr/>
        </p:nvSpPr>
        <p:spPr>
          <a:xfrm>
            <a:off x="311150" y="416560"/>
            <a:ext cx="6934200" cy="9842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D72B3-1ECC-8B8D-E976-072288F287F0}"/>
              </a:ext>
            </a:extLst>
          </p:cNvPr>
          <p:cNvSpPr txBox="1"/>
          <p:nvPr/>
        </p:nvSpPr>
        <p:spPr>
          <a:xfrm>
            <a:off x="413238" y="4699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PATIENT Table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FDF24-3646-4CCA-8988-8BBE97555B51}"/>
              </a:ext>
            </a:extLst>
          </p:cNvPr>
          <p:cNvSpPr txBox="1"/>
          <p:nvPr/>
        </p:nvSpPr>
        <p:spPr>
          <a:xfrm>
            <a:off x="654050" y="1079500"/>
            <a:ext cx="632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Datatypes                     Properties</a:t>
            </a:r>
          </a:p>
          <a:p>
            <a:endParaRPr lang="en-IN" dirty="0"/>
          </a:p>
          <a:p>
            <a:r>
              <a:rPr lang="en-IN" dirty="0" err="1"/>
              <a:t>Patient_Id</a:t>
            </a:r>
            <a:r>
              <a:rPr lang="en-IN" dirty="0"/>
              <a:t>                  varchar(50)         Primary key ,not null</a:t>
            </a:r>
          </a:p>
          <a:p>
            <a:r>
              <a:rPr lang="en-IN" dirty="0"/>
              <a:t>Name                        varchar(100)                      not null</a:t>
            </a:r>
          </a:p>
          <a:p>
            <a:r>
              <a:rPr lang="en-IN" dirty="0"/>
              <a:t>Age                                int                                  not null</a:t>
            </a:r>
          </a:p>
          <a:p>
            <a:r>
              <a:rPr lang="en-IN" dirty="0"/>
              <a:t>Gender                      varchar(10)                        not null</a:t>
            </a:r>
          </a:p>
          <a:p>
            <a:r>
              <a:rPr lang="en-IN" dirty="0"/>
              <a:t>Phone no                       int                                  not null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90348-39E7-65CA-E653-5B724160B4FF}"/>
              </a:ext>
            </a:extLst>
          </p:cNvPr>
          <p:cNvSpPr txBox="1"/>
          <p:nvPr/>
        </p:nvSpPr>
        <p:spPr>
          <a:xfrm>
            <a:off x="577850" y="35179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DOCTOR Table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C6A2A-910A-1284-B4AD-8B7AD99046E7}"/>
              </a:ext>
            </a:extLst>
          </p:cNvPr>
          <p:cNvSpPr txBox="1"/>
          <p:nvPr/>
        </p:nvSpPr>
        <p:spPr>
          <a:xfrm>
            <a:off x="730250" y="4127500"/>
            <a:ext cx="6172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Datatypes                     Properties</a:t>
            </a:r>
          </a:p>
          <a:p>
            <a:endParaRPr lang="en-IN" dirty="0"/>
          </a:p>
          <a:p>
            <a:r>
              <a:rPr lang="en-IN" dirty="0" err="1"/>
              <a:t>Doctor_Id</a:t>
            </a:r>
            <a:r>
              <a:rPr lang="en-IN" dirty="0"/>
              <a:t>                  varchar(50)         Primary key ,not null</a:t>
            </a:r>
          </a:p>
          <a:p>
            <a:r>
              <a:rPr lang="en-IN" dirty="0"/>
              <a:t>Name                        varchar(100)                      not null</a:t>
            </a:r>
          </a:p>
          <a:p>
            <a:r>
              <a:rPr lang="en-IN" dirty="0"/>
              <a:t>Specialty                   varchar(100)                      not null</a:t>
            </a:r>
          </a:p>
          <a:p>
            <a:r>
              <a:rPr lang="en-IN" dirty="0"/>
              <a:t>Gender                      varchar(10)                        not null</a:t>
            </a:r>
          </a:p>
          <a:p>
            <a:r>
              <a:rPr lang="en-IN" dirty="0"/>
              <a:t>Phone no                       int                                  not null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F2D08-6529-F003-F955-4A88484512B1}"/>
              </a:ext>
            </a:extLst>
          </p:cNvPr>
          <p:cNvSpPr txBox="1"/>
          <p:nvPr/>
        </p:nvSpPr>
        <p:spPr>
          <a:xfrm>
            <a:off x="654050" y="66421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APPOINTMENTS Table Design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17598-DFA8-CD4E-09AB-8F0C5D4FCF90}"/>
              </a:ext>
            </a:extLst>
          </p:cNvPr>
          <p:cNvSpPr txBox="1"/>
          <p:nvPr/>
        </p:nvSpPr>
        <p:spPr>
          <a:xfrm>
            <a:off x="806450" y="7404100"/>
            <a:ext cx="6019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 Datatypes                 Properties</a:t>
            </a:r>
          </a:p>
          <a:p>
            <a:endParaRPr lang="en-IN" dirty="0"/>
          </a:p>
          <a:p>
            <a:r>
              <a:rPr lang="en-IN" dirty="0" err="1"/>
              <a:t>Appointment_ID</a:t>
            </a:r>
            <a:r>
              <a:rPr lang="en-IN" dirty="0"/>
              <a:t>         int                      primary </a:t>
            </a:r>
            <a:r>
              <a:rPr lang="en-IN" dirty="0" err="1"/>
              <a:t>key,not</a:t>
            </a:r>
            <a:r>
              <a:rPr lang="en-IN" dirty="0"/>
              <a:t> null</a:t>
            </a:r>
          </a:p>
          <a:p>
            <a:r>
              <a:rPr lang="en-IN" dirty="0" err="1"/>
              <a:t>Patient_ID</a:t>
            </a:r>
            <a:r>
              <a:rPr lang="en-IN" dirty="0"/>
              <a:t>                  varchar(50)                   not null</a:t>
            </a:r>
          </a:p>
          <a:p>
            <a:r>
              <a:rPr lang="en-IN" dirty="0" err="1"/>
              <a:t>Doctor_ID</a:t>
            </a:r>
            <a:r>
              <a:rPr lang="en-IN" dirty="0"/>
              <a:t>                   varchar(50)                   not null</a:t>
            </a:r>
          </a:p>
          <a:p>
            <a:r>
              <a:rPr lang="en-IN" dirty="0" err="1"/>
              <a:t>Appointment_date</a:t>
            </a:r>
            <a:r>
              <a:rPr lang="en-IN" dirty="0"/>
              <a:t>      date                               not null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200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DFD698-25A5-AC1B-810F-BB3B5DF23CEF}"/>
              </a:ext>
            </a:extLst>
          </p:cNvPr>
          <p:cNvSpPr/>
          <p:nvPr/>
        </p:nvSpPr>
        <p:spPr>
          <a:xfrm>
            <a:off x="311150" y="469900"/>
            <a:ext cx="6934200" cy="9982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2004F-2BE9-6BC7-040B-9732AE695296}"/>
              </a:ext>
            </a:extLst>
          </p:cNvPr>
          <p:cNvSpPr txBox="1"/>
          <p:nvPr/>
        </p:nvSpPr>
        <p:spPr>
          <a:xfrm>
            <a:off x="501650" y="6985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MEDICINES Table Design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0F7C1-2A3D-6AF0-6ADE-650258D3ECB8}"/>
              </a:ext>
            </a:extLst>
          </p:cNvPr>
          <p:cNvSpPr txBox="1"/>
          <p:nvPr/>
        </p:nvSpPr>
        <p:spPr>
          <a:xfrm>
            <a:off x="654050" y="1372632"/>
            <a:ext cx="6248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   Datatypes                   Properties</a:t>
            </a:r>
          </a:p>
          <a:p>
            <a:endParaRPr lang="en-IN" dirty="0"/>
          </a:p>
          <a:p>
            <a:r>
              <a:rPr lang="en-IN" dirty="0"/>
              <a:t>Id                               varchar(50)         primary key , not null                </a:t>
            </a:r>
          </a:p>
          <a:p>
            <a:r>
              <a:rPr lang="en-IN" dirty="0"/>
              <a:t>Name                         varchar(50)               not null  </a:t>
            </a:r>
          </a:p>
          <a:p>
            <a:r>
              <a:rPr lang="en-IN" dirty="0"/>
              <a:t>Cost                                int                         not null</a:t>
            </a:r>
          </a:p>
          <a:p>
            <a:r>
              <a:rPr lang="en-IN" dirty="0"/>
              <a:t>Details                        varchar(100)             not null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9E7D0-8A42-C4EE-5B02-9D6AAC443999}"/>
              </a:ext>
            </a:extLst>
          </p:cNvPr>
          <p:cNvSpPr txBox="1"/>
          <p:nvPr/>
        </p:nvSpPr>
        <p:spPr>
          <a:xfrm>
            <a:off x="654050" y="38989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BILLS Table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ECE9B-62D9-861A-CE77-245CEE3FD590}"/>
              </a:ext>
            </a:extLst>
          </p:cNvPr>
          <p:cNvSpPr txBox="1"/>
          <p:nvPr/>
        </p:nvSpPr>
        <p:spPr>
          <a:xfrm>
            <a:off x="654050" y="4584700"/>
            <a:ext cx="6248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   Datatypes                    Properties</a:t>
            </a:r>
          </a:p>
          <a:p>
            <a:endParaRPr lang="en-IN" dirty="0"/>
          </a:p>
          <a:p>
            <a:r>
              <a:rPr lang="en-IN" dirty="0"/>
              <a:t>Id                                varchar(50)        primary key , not null</a:t>
            </a:r>
          </a:p>
          <a:p>
            <a:r>
              <a:rPr lang="en-IN" dirty="0" err="1"/>
              <a:t>Patient_id</a:t>
            </a:r>
            <a:r>
              <a:rPr lang="en-IN" dirty="0"/>
              <a:t>                   varchar(50)                 not null</a:t>
            </a:r>
          </a:p>
          <a:p>
            <a:r>
              <a:rPr lang="en-IN" dirty="0"/>
              <a:t>Amount                          int                            not null</a:t>
            </a:r>
          </a:p>
          <a:p>
            <a:r>
              <a:rPr lang="en-IN" dirty="0"/>
              <a:t>Details                        varchar(100)               not null</a:t>
            </a:r>
          </a:p>
          <a:p>
            <a:r>
              <a:rPr lang="en-IN" dirty="0" err="1"/>
              <a:t>Bill_date</a:t>
            </a:r>
            <a:r>
              <a:rPr lang="en-IN" dirty="0"/>
              <a:t>                        date                          not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3173E-1956-F6FA-5F03-48DC49FF080F}"/>
              </a:ext>
            </a:extLst>
          </p:cNvPr>
          <p:cNvSpPr txBox="1"/>
          <p:nvPr/>
        </p:nvSpPr>
        <p:spPr>
          <a:xfrm>
            <a:off x="730250" y="76327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STAFF  table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DDF78-3725-D6D5-F6E9-143518D39252}"/>
              </a:ext>
            </a:extLst>
          </p:cNvPr>
          <p:cNvSpPr txBox="1"/>
          <p:nvPr/>
        </p:nvSpPr>
        <p:spPr>
          <a:xfrm>
            <a:off x="730250" y="8242300"/>
            <a:ext cx="6172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Datatypes                     Properties</a:t>
            </a:r>
          </a:p>
          <a:p>
            <a:endParaRPr lang="en-IN" dirty="0"/>
          </a:p>
          <a:p>
            <a:r>
              <a:rPr lang="en-IN" dirty="0" err="1"/>
              <a:t>Staff_Id</a:t>
            </a:r>
            <a:r>
              <a:rPr lang="en-IN" dirty="0"/>
              <a:t>                      int                       Primary key ,not null</a:t>
            </a:r>
          </a:p>
          <a:p>
            <a:r>
              <a:rPr lang="en-IN" dirty="0"/>
              <a:t>Name                        varchar(100)                      not null</a:t>
            </a:r>
          </a:p>
          <a:p>
            <a:r>
              <a:rPr lang="en-IN" dirty="0"/>
              <a:t>Specialty                   varchar(50)                        not null</a:t>
            </a:r>
          </a:p>
          <a:p>
            <a:r>
              <a:rPr lang="en-IN" dirty="0"/>
              <a:t>Gender                      varchar(10)                        not null</a:t>
            </a:r>
          </a:p>
          <a:p>
            <a:r>
              <a:rPr lang="en-IN" dirty="0"/>
              <a:t>Phone no                       int                                  not null</a:t>
            </a:r>
          </a:p>
        </p:txBody>
      </p:sp>
    </p:spTree>
    <p:extLst>
      <p:ext uri="{BB962C8B-B14F-4D97-AF65-F5344CB8AC3E}">
        <p14:creationId xmlns:p14="http://schemas.microsoft.com/office/powerpoint/2010/main" val="321477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850" y="774700"/>
            <a:ext cx="1033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ER</a:t>
            </a:r>
            <a:r>
              <a:rPr sz="1200" b="1" spc="-20" dirty="0">
                <a:latin typeface="Book Antiqua" pitchFamily="18" charset="0"/>
                <a:cs typeface="Arial"/>
              </a:rPr>
              <a:t> </a:t>
            </a:r>
            <a:r>
              <a:rPr sz="1200" b="1" spc="-10" dirty="0">
                <a:latin typeface="Book Antiqua" pitchFamily="18" charset="0"/>
                <a:cs typeface="Arial"/>
              </a:rPr>
              <a:t>Diagram</a:t>
            </a:r>
            <a:endParaRPr sz="1200" dirty="0">
              <a:latin typeface="Book Antiqua" pitchFamily="18" charset="0"/>
              <a:cs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9250" y="393700"/>
            <a:ext cx="6705600" cy="9601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patient&#10;&#10;AI-generated content may be incorrect.">
            <a:extLst>
              <a:ext uri="{FF2B5EF4-FFF2-40B4-BE49-F238E27FC236}">
                <a16:creationId xmlns:a16="http://schemas.microsoft.com/office/drawing/2014/main" id="{CFB8AFC8-AF95-50C3-34F9-C454317A5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0" y="1035634"/>
            <a:ext cx="5543550" cy="4500033"/>
          </a:xfrm>
          <a:prstGeom prst="rect">
            <a:avLst/>
          </a:prstGeom>
        </p:spPr>
      </p:pic>
      <p:pic>
        <p:nvPicPr>
          <p:cNvPr id="4" name="Picture 3" descr="A diagram of a medical procedure&#10;&#10;AI-generated content may be incorrect.">
            <a:extLst>
              <a:ext uri="{FF2B5EF4-FFF2-40B4-BE49-F238E27FC236}">
                <a16:creationId xmlns:a16="http://schemas.microsoft.com/office/drawing/2014/main" id="{0804070F-165F-B902-BBCB-F15218F73F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5803900"/>
            <a:ext cx="6019800" cy="373803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FC0442-F856-2841-116F-C8C4309B2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469900"/>
            <a:ext cx="6674644" cy="23761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BA60F10-E44A-95A7-0BC0-5C7526B3EE51}"/>
              </a:ext>
            </a:extLst>
          </p:cNvPr>
          <p:cNvSpPr/>
          <p:nvPr/>
        </p:nvSpPr>
        <p:spPr>
          <a:xfrm>
            <a:off x="234950" y="355198"/>
            <a:ext cx="7124700" cy="103255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DD53D4-6333-F396-3808-C7DBBDE91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31" y="8013700"/>
            <a:ext cx="6111081" cy="255310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D12935-C76B-3D36-3DDC-0862AB50C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" y="5789945"/>
            <a:ext cx="6019800" cy="2376155"/>
          </a:xfrm>
          <a:prstGeom prst="rect">
            <a:avLst/>
          </a:prstGeom>
        </p:spPr>
      </p:pic>
      <p:pic>
        <p:nvPicPr>
          <p:cNvPr id="10" name="Picture 9" descr="A diagram of a medical system&#10;&#10;AI-generated content may be incorrect.">
            <a:extLst>
              <a:ext uri="{FF2B5EF4-FFF2-40B4-BE49-F238E27FC236}">
                <a16:creationId xmlns:a16="http://schemas.microsoft.com/office/drawing/2014/main" id="{9492CC14-2CCF-FAD6-4CAB-BE705D5F0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28" y="1170183"/>
            <a:ext cx="6636544" cy="46197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8142E8-3FB3-9550-A9F4-3CB82C9BE3E0}"/>
              </a:ext>
            </a:extLst>
          </p:cNvPr>
          <p:cNvSpPr txBox="1"/>
          <p:nvPr/>
        </p:nvSpPr>
        <p:spPr>
          <a:xfrm>
            <a:off x="631031" y="698500"/>
            <a:ext cx="307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Arial"/>
                <a:cs typeface="Arial"/>
              </a:rPr>
              <a:t>Data Flow Diagram </a:t>
            </a:r>
            <a:r>
              <a:rPr lang="en-IN" sz="1800" b="1" spc="-10" dirty="0">
                <a:latin typeface="Arial"/>
                <a:cs typeface="Arial"/>
              </a:rPr>
              <a:t>(DFD)</a:t>
            </a:r>
            <a:endParaRPr lang="en-IN" sz="1800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497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3957954" cy="6976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Book Antiqua" pitchFamily="18" charset="0"/>
                <a:cs typeface="Arial"/>
              </a:rPr>
              <a:t>Complete Structure - Process Logical </a:t>
            </a:r>
            <a:r>
              <a:rPr sz="1200" b="1" spc="-10" dirty="0">
                <a:latin typeface="Book Antiqua" pitchFamily="18" charset="0"/>
                <a:cs typeface="Arial"/>
              </a:rPr>
              <a:t>Diagram</a:t>
            </a:r>
            <a:endParaRPr sz="1200">
              <a:latin typeface="Book Antiqua" pitchFamily="18" charset="0"/>
              <a:cs typeface="Arial"/>
            </a:endParaRPr>
          </a:p>
          <a:p>
            <a:pPr marL="12700" marR="2063114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Patient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Appointment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Doctor </a:t>
            </a:r>
            <a:r>
              <a:rPr sz="1200" dirty="0">
                <a:latin typeface="Book Antiqua" pitchFamily="18" charset="0"/>
                <a:cs typeface="Arial MT"/>
              </a:rPr>
              <a:t>Doctor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Treatment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Medicine</a:t>
            </a: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Book Antiqua" pitchFamily="18" charset="0"/>
                <a:cs typeface="Arial MT"/>
              </a:rPr>
              <a:t>Staff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Support Tasks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 </a:t>
            </a:r>
            <a:r>
              <a:rPr sz="1200" spc="-20" dirty="0">
                <a:latin typeface="Book Antiqua" pitchFamily="18" charset="0"/>
                <a:cs typeface="Arial MT"/>
              </a:rPr>
              <a:t>Care</a:t>
            </a: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Platform Used - Hardware </a:t>
            </a:r>
            <a:r>
              <a:rPr sz="1200" b="1" spc="-10" dirty="0">
                <a:latin typeface="Book Antiqua" pitchFamily="18" charset="0"/>
                <a:cs typeface="Arial"/>
              </a:rPr>
              <a:t>Requirements</a:t>
            </a:r>
            <a:endParaRPr sz="1200">
              <a:latin typeface="Book Antiqua" pitchFamily="18" charset="0"/>
              <a:cs typeface="Arial"/>
            </a:endParaRPr>
          </a:p>
          <a:p>
            <a:pPr marL="92075" indent="-79375">
              <a:lnSpc>
                <a:spcPct val="100000"/>
              </a:lnSpc>
              <a:spcBef>
                <a:spcPts val="720"/>
              </a:spcBef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Processor: Dual Core or </a:t>
            </a:r>
            <a:r>
              <a:rPr sz="1200" spc="-10" dirty="0">
                <a:latin typeface="Book Antiqua" pitchFamily="18" charset="0"/>
                <a:cs typeface="Arial MT"/>
              </a:rPr>
              <a:t>higher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RAM:</a:t>
            </a:r>
            <a:r>
              <a:rPr sz="1200" spc="-2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Minimum</a:t>
            </a:r>
            <a:r>
              <a:rPr sz="1200" spc="-20" dirty="0">
                <a:latin typeface="Book Antiqua" pitchFamily="18" charset="0"/>
                <a:cs typeface="Arial MT"/>
              </a:rPr>
              <a:t> </a:t>
            </a:r>
            <a:r>
              <a:rPr sz="1200" spc="-25" dirty="0">
                <a:latin typeface="Book Antiqua" pitchFamily="18" charset="0"/>
                <a:cs typeface="Arial MT"/>
              </a:rPr>
              <a:t>4GB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Hard</a:t>
            </a:r>
            <a:r>
              <a:rPr sz="1200" spc="-10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Disk: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500GB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or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spc="-20" dirty="0">
                <a:latin typeface="Book Antiqua" pitchFamily="18" charset="0"/>
                <a:cs typeface="Arial MT"/>
              </a:rPr>
              <a:t>more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Display: Standard </a:t>
            </a:r>
            <a:r>
              <a:rPr sz="1200" spc="-10" dirty="0">
                <a:latin typeface="Book Antiqua" pitchFamily="18" charset="0"/>
                <a:cs typeface="Arial MT"/>
              </a:rPr>
              <a:t>Monitor</a:t>
            </a: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Platform Used - Software </a:t>
            </a:r>
            <a:r>
              <a:rPr sz="1200" b="1" spc="-10" dirty="0">
                <a:latin typeface="Book Antiqua" pitchFamily="18" charset="0"/>
                <a:cs typeface="Arial"/>
              </a:rPr>
              <a:t>Requirements</a:t>
            </a:r>
            <a:endParaRPr sz="1200">
              <a:latin typeface="Book Antiqua" pitchFamily="18" charset="0"/>
              <a:cs typeface="Arial"/>
            </a:endParaRPr>
          </a:p>
          <a:p>
            <a:pPr marL="92075" indent="-79375">
              <a:lnSpc>
                <a:spcPct val="100000"/>
              </a:lnSpc>
              <a:spcBef>
                <a:spcPts val="720"/>
              </a:spcBef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Operating System: Windows / </a:t>
            </a:r>
            <a:r>
              <a:rPr sz="1200" spc="-10" dirty="0">
                <a:latin typeface="Book Antiqua" pitchFamily="18" charset="0"/>
                <a:cs typeface="Arial MT"/>
              </a:rPr>
              <a:t>Linux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Database: MySQL / SQL </a:t>
            </a:r>
            <a:r>
              <a:rPr sz="1200" spc="-10" dirty="0">
                <a:latin typeface="Book Antiqua" pitchFamily="18" charset="0"/>
                <a:cs typeface="Arial MT"/>
              </a:rPr>
              <a:t>Server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Frontend: Java / Python /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PHP / </a:t>
            </a:r>
            <a:r>
              <a:rPr sz="1200" spc="-20" dirty="0">
                <a:latin typeface="Book Antiqua" pitchFamily="18" charset="0"/>
                <a:cs typeface="Arial MT"/>
              </a:rPr>
              <a:t>.NET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Tools: XAMPP / VS Code /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Eclipse</a:t>
            </a: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Future </a:t>
            </a:r>
            <a:r>
              <a:rPr sz="1200" b="1" spc="-10" dirty="0">
                <a:latin typeface="Book Antiqua" pitchFamily="18" charset="0"/>
                <a:cs typeface="Arial"/>
              </a:rPr>
              <a:t>Scope</a:t>
            </a:r>
            <a:endParaRPr sz="1200">
              <a:latin typeface="Book Antiqua" pitchFamily="18" charset="0"/>
              <a:cs typeface="Arial"/>
            </a:endParaRPr>
          </a:p>
          <a:p>
            <a:pPr marL="92075" indent="-79375">
              <a:lnSpc>
                <a:spcPct val="100000"/>
              </a:lnSpc>
              <a:spcBef>
                <a:spcPts val="720"/>
              </a:spcBef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Online appointment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portal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Billing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insurance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integration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SMS/Email </a:t>
            </a:r>
            <a:r>
              <a:rPr sz="1200" spc="-10" dirty="0">
                <a:latin typeface="Book Antiqua" pitchFamily="18" charset="0"/>
                <a:cs typeface="Arial MT"/>
              </a:rPr>
              <a:t>alerts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Online prescription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medical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reports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Mobile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app</a:t>
            </a:r>
            <a:r>
              <a:rPr sz="1200" spc="10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integration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AI-based diagnosis </a:t>
            </a:r>
            <a:r>
              <a:rPr sz="1200" spc="-10" dirty="0">
                <a:latin typeface="Book Antiqua" pitchFamily="18" charset="0"/>
                <a:cs typeface="Arial MT"/>
              </a:rPr>
              <a:t>support</a:t>
            </a: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Book Antiqua" pitchFamily="18" charset="0"/>
                <a:cs typeface="Arial"/>
              </a:rPr>
              <a:t>Bibliography</a:t>
            </a:r>
            <a:endParaRPr sz="1200">
              <a:latin typeface="Book Antiqua" pitchFamily="18" charset="0"/>
              <a:cs typeface="Arial"/>
            </a:endParaRPr>
          </a:p>
          <a:p>
            <a:pPr marL="92075" indent="-79375">
              <a:lnSpc>
                <a:spcPct val="100000"/>
              </a:lnSpc>
              <a:spcBef>
                <a:spcPts val="720"/>
              </a:spcBef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Database System Concepts 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Silberschatz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Fundamentals of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DBMS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– </a:t>
            </a:r>
            <a:r>
              <a:rPr sz="1200" spc="-10" dirty="0">
                <a:latin typeface="Book Antiqua" pitchFamily="18" charset="0"/>
                <a:cs typeface="Arial MT"/>
              </a:rPr>
              <a:t>Korth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Online documentation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technical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references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Software Engineering </a:t>
            </a:r>
            <a:r>
              <a:rPr sz="1200" spc="-10" dirty="0">
                <a:latin typeface="Book Antiqua" pitchFamily="18" charset="0"/>
                <a:cs typeface="Arial MT"/>
              </a:rPr>
              <a:t>Guides</a:t>
            </a:r>
            <a:endParaRPr sz="1200">
              <a:latin typeface="Book Antiqua" pitchFamily="18" charset="0"/>
              <a:cs typeface="Arial M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3050" y="317500"/>
            <a:ext cx="6934200" cy="10058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</TotalTime>
  <Words>762</Words>
  <Application>Microsoft Office PowerPoint</Application>
  <PresentationFormat>Custom</PresentationFormat>
  <Paragraphs>148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monish khan</cp:lastModifiedBy>
  <cp:revision>15</cp:revision>
  <dcterms:created xsi:type="dcterms:W3CDTF">2025-11-27T10:41:21Z</dcterms:created>
  <dcterms:modified xsi:type="dcterms:W3CDTF">2025-11-27T16:54:39Z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2025-11-27T00:00:00Z</vt:filetime>
  </property>
  <property fmtid="{D5CDD505-2E9C-101B-9397-08002B2CF9AE}" pid="5" name="Producer">
    <vt:lpwstr>ReportLab PDF Library - www.reportlab.com</vt:lpwstr>
  </property>
</Properties>
</file>